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Nunito Sans ExtraBold"/>
      <p:regular r:id="rId201314"/>
    </p:embeddedFont>
    <p:embeddedFont>
      <p:font typeface="Nunito Sans Bold"/>
      <p:regular r:id="rId201315"/>
    </p:embeddedFont>
    <p:embeddedFont>
      <p:font typeface="Source Sans 3 Medium"/>
      <p:regular r:id="rId201316"/>
    </p:embeddedFont>
    <p:embeddedFont>
      <p:font typeface="Source Sans 3 SemiBold"/>
      <p:regular r:id="rId201317"/>
    </p:embeddedFont>
    <p:embeddedFont>
      <p:font typeface="Source Sans 3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svg"/><Relationship Id="rId16" Type="http://schemas.openxmlformats.org/officeDocument/2006/relationships/slideLayout" Target="../slideLayouts/slideLayout3.xml"/><Relationship Id="rId1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736600"/>
            <a:ext cx="5460863" cy="4445000"/>
          </a:xfrm>
          <a:custGeom>
            <a:avLst/>
            <a:gdLst/>
            <a:ahLst/>
            <a:cxnLst/>
            <a:rect l="l" t="t" r="r" b="b"/>
            <a:pathLst>
              <a:path w="5460863" h="4445000">
                <a:moveTo>
                  <a:pt x="126997" y="0"/>
                </a:moveTo>
                <a:lnTo>
                  <a:pt x="4648084" y="0"/>
                </a:lnTo>
                <a:arcTo hR="812800" wR="812779" stAng="16200000" swAng="5400000"/>
                <a:lnTo>
                  <a:pt x="5460863" y="4318000"/>
                </a:lnTo>
                <a:arcTo hR="127000" wR="126997" stAng="0" swAng="5400000"/>
                <a:lnTo>
                  <a:pt x="126997" y="4445000"/>
                </a:lnTo>
                <a:arcTo hR="127000" wR="126997" stAng="5400000" swAng="5400000"/>
                <a:lnTo>
                  <a:pt x="0" y="127000"/>
                </a:lnTo>
                <a:arcTo hR="127000" wR="126997" stAng="10800000" swAng="5400000"/>
                <a:close/>
              </a:path>
            </a:pathLst>
          </a:custGeom>
          <a:solidFill>
            <a:srgbClr val="FFFCF6"/>
          </a:solidFill>
          <a:ln/>
        </p:spPr>
      </p:sp>
      <p:sp>
        <p:nvSpPr>
          <p:cNvPr id="3" name="Text 1"/>
          <p:cNvSpPr/>
          <p:nvPr/>
        </p:nvSpPr>
        <p:spPr>
          <a:xfrm>
            <a:off x="1117572" y="1168400"/>
            <a:ext cx="5156071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spc="112" kern="100" dirty="0">
                <a:solidFill>
                  <a:srgbClr val="C2482A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LOGIC LEAGUE · IDEATHON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17572" y="1491555"/>
            <a:ext cx="4546486" cy="713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5400" spc="-108" kern="100" dirty="0">
                <a:solidFill>
                  <a:srgbClr val="46392F"/>
                </a:solidFill>
                <a:latin typeface="Nunito Sans ExtraBold" pitchFamily="34" charset="0"/>
                <a:ea typeface="Nunito Sans ExtraBold" pitchFamily="34" charset="-122"/>
                <a:cs typeface="Nunito Sans ExtraBold" pitchFamily="34" charset="-120"/>
              </a:rPr>
              <a:t>SPENDWISE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1117572" y="2485727"/>
            <a:ext cx="1136522" cy="50701"/>
          </a:xfrm>
          <a:prstGeom prst="roundRect">
            <a:avLst>
              <a:gd name="adj" fmla="val 49999"/>
            </a:avLst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1117572" y="2979440"/>
            <a:ext cx="4546486" cy="357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200" spc="-11" kern="100" dirty="0">
                <a:solidFill>
                  <a:srgbClr val="46392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Your AI Personal Financial Copilot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7572" y="3540224"/>
            <a:ext cx="5156071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spc="14" kern="100" dirty="0">
                <a:solidFill>
                  <a:srgbClr val="6E5F53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HackForge × HackerRank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84" y="457200"/>
            <a:ext cx="6476838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spc="112" kern="100" dirty="0">
                <a:solidFill>
                  <a:srgbClr val="C2482A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34984" y="780355"/>
            <a:ext cx="6045049" cy="2523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600" b="1" spc="-69" kern="100" dirty="0">
                <a:solidFill>
                  <a:srgbClr val="2B211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Most people can see their transactions. Few can see what to do next.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34984" y="3585071"/>
            <a:ext cx="1511262" cy="50701"/>
          </a:xfrm>
          <a:prstGeom prst="roundRect">
            <a:avLst>
              <a:gd name="adj" fmla="val 49999"/>
            </a:avLst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634984" y="3894634"/>
            <a:ext cx="6045049" cy="2006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46392F"/>
                </a:solidFill>
                <a:latin typeface="Source Sans 3 Medium" pitchFamily="34" charset="0"/>
                <a:ea typeface="Source Sans 3 Medium" pitchFamily="34" charset="-122"/>
                <a:cs typeface="Source Sans 3 Medium" pitchFamily="34" charset="-120"/>
              </a:rPr>
              <a:t>Money leaves through UPI, cards, cash, bills, subscriptions, and small daily purchases.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46392F"/>
                </a:solidFill>
                <a:latin typeface="Source Sans 3 Medium" pitchFamily="34" charset="0"/>
                <a:ea typeface="Source Sans 3 Medium" pitchFamily="34" charset="-122"/>
                <a:cs typeface="Source Sans 3 Medium" pitchFamily="34" charset="-120"/>
              </a:rPr>
              <a:t>The result is fragmented spending, missed obligations, and goals that drift.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b="1" dirty="0">
                <a:solidFill>
                  <a:srgbClr val="46392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SpendWise turns financial noise into a next-best decision.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822" y="0"/>
            <a:ext cx="507987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84" y="431800"/>
            <a:ext cx="11531312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103" kern="100" dirty="0">
                <a:solidFill>
                  <a:srgbClr val="C2482A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THE MISSING LAYER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34984" y="722709"/>
            <a:ext cx="10921727" cy="1970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950" spc="-99" kern="100" dirty="0">
                <a:solidFill>
                  <a:srgbClr val="2B211C"/>
                </a:solidFill>
                <a:latin typeface="Nunito Sans ExtraBold" pitchFamily="34" charset="0"/>
                <a:ea typeface="Nunito Sans ExtraBold" pitchFamily="34" charset="-122"/>
                <a:cs typeface="Nunito Sans ExtraBold" pitchFamily="34" charset="-120"/>
              </a:rPr>
              <a:t>Tracking tells you what happened. Guidance helps you decide what happens next.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634984" y="2936974"/>
            <a:ext cx="2730432" cy="38100"/>
          </a:xfrm>
          <a:prstGeom prst="roundRect">
            <a:avLst>
              <a:gd name="adj" fmla="val 49999"/>
            </a:avLst>
          </a:prstGeom>
          <a:solidFill>
            <a:srgbClr val="F2A93B"/>
          </a:solidFill>
          <a:ln/>
        </p:spPr>
      </p:sp>
      <p:sp>
        <p:nvSpPr>
          <p:cNvPr id="5" name="Shape 3"/>
          <p:cNvSpPr/>
          <p:nvPr/>
        </p:nvSpPr>
        <p:spPr>
          <a:xfrm>
            <a:off x="634984" y="3200003"/>
            <a:ext cx="5308368" cy="3619897"/>
          </a:xfrm>
          <a:custGeom>
            <a:avLst/>
            <a:gdLst/>
            <a:ahLst/>
            <a:cxnLst/>
            <a:rect l="l" t="t" r="r" b="b"/>
            <a:pathLst>
              <a:path w="5308368" h="3619897">
                <a:moveTo>
                  <a:pt x="126997" y="0"/>
                </a:moveTo>
                <a:lnTo>
                  <a:pt x="4495589" y="0"/>
                </a:lnTo>
                <a:arcTo hR="812800" wR="812779" stAng="16200000" swAng="5400000"/>
                <a:lnTo>
                  <a:pt x="5308368" y="3492897"/>
                </a:lnTo>
                <a:arcTo hR="127000" wR="126997" stAng="0" swAng="5400000"/>
                <a:lnTo>
                  <a:pt x="126997" y="3619897"/>
                </a:lnTo>
                <a:arcTo hR="127000" wR="126997" stAng="5400000" swAng="5400000"/>
                <a:lnTo>
                  <a:pt x="0" y="127000"/>
                </a:lnTo>
                <a:arcTo hR="127000" wR="126997" stAng="10800000" swAng="5400000"/>
                <a:close/>
              </a:path>
            </a:pathLst>
          </a:custGeom>
          <a:solidFill>
            <a:srgbClr val="F0E8DB"/>
          </a:solidFill>
          <a:ln/>
        </p:spPr>
      </p:sp>
      <p:sp>
        <p:nvSpPr>
          <p:cNvPr id="6" name="Text 4"/>
          <p:cNvSpPr/>
          <p:nvPr/>
        </p:nvSpPr>
        <p:spPr>
          <a:xfrm>
            <a:off x="965176" y="3504803"/>
            <a:ext cx="4978176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103" kern="100" dirty="0">
                <a:solidFill>
                  <a:srgbClr val="2B211C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CONVENTIONAL APPS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5176" y="3795713"/>
            <a:ext cx="4647985" cy="41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600" spc="-13" kern="100" dirty="0">
                <a:solidFill>
                  <a:srgbClr val="2B211C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Record and visualize the past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65176" y="4352230"/>
            <a:ext cx="4647985" cy="558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46392F"/>
                </a:solidFill>
                <a:latin typeface="Source Sans 3 Medium" pitchFamily="34" charset="0"/>
                <a:ea typeface="Source Sans 3 Medium" pitchFamily="34" charset="-122"/>
                <a:cs typeface="Source Sans 3 Medium" pitchFamily="34" charset="-120"/>
              </a:rPr>
              <a:t>Transaction lists, categories, charts, and budgets show where your money went.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65176" y="5023247"/>
            <a:ext cx="4647985" cy="606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35280" indent="-335280">
              <a:lnSpc>
                <a:spcPct val="110000"/>
              </a:lnSpc>
              <a:buSzPct val="100000"/>
              <a:buChar char="•"/>
            </a:pPr>
            <a:r>
              <a:rPr lang="en-US" sz="1650" dirty="0">
                <a:solidFill>
                  <a:srgbClr val="46392F"/>
                </a:solidFill>
                <a:latin typeface="Source Sans 3 Medium" pitchFamily="34" charset="0"/>
                <a:ea typeface="Source Sans 3 Medium" pitchFamily="34" charset="-122"/>
                <a:cs typeface="Source Sans 3 Medium" pitchFamily="34" charset="-120"/>
              </a:rPr>
              <a:t>Useful history, limited context</a:t>
            </a:r>
            <a:endParaRPr lang="en-US" sz="1650" dirty="0"/>
          </a:p>
          <a:p>
            <a:pPr algn="l" marL="335280" indent="-335280">
              <a:lnSpc>
                <a:spcPct val="110000"/>
              </a:lnSpc>
              <a:buSzPct val="100000"/>
              <a:buChar char="•"/>
            </a:pPr>
            <a:r>
              <a:rPr lang="en-US" sz="1650" dirty="0">
                <a:solidFill>
                  <a:srgbClr val="46392F"/>
                </a:solidFill>
                <a:latin typeface="Source Sans 3 Medium" pitchFamily="34" charset="0"/>
                <a:ea typeface="Source Sans 3 Medium" pitchFamily="34" charset="-122"/>
                <a:cs typeface="Source Sans 3 Medium" pitchFamily="34" charset="-120"/>
              </a:rPr>
              <a:t>Reactive: you look back after spending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248144" y="3200003"/>
            <a:ext cx="5308467" cy="3619897"/>
          </a:xfrm>
          <a:custGeom>
            <a:avLst/>
            <a:gdLst/>
            <a:ahLst/>
            <a:cxnLst/>
            <a:rect l="l" t="t" r="r" b="b"/>
            <a:pathLst>
              <a:path w="5308467" h="3619897">
                <a:moveTo>
                  <a:pt x="812779" y="0"/>
                </a:moveTo>
                <a:lnTo>
                  <a:pt x="5181471" y="0"/>
                </a:lnTo>
                <a:arcTo hR="127000" wR="126997" stAng="16200000" swAng="5400000"/>
                <a:lnTo>
                  <a:pt x="5308467" y="3492897"/>
                </a:lnTo>
                <a:arcTo hR="127000" wR="126997" stAng="0" swAng="5400000"/>
                <a:lnTo>
                  <a:pt x="126997" y="3619897"/>
                </a:lnTo>
                <a:arcTo hR="127000" wR="126997" stAng="5400000" swAng="5400000"/>
                <a:lnTo>
                  <a:pt x="0" y="812800"/>
                </a:lnTo>
                <a:arcTo hR="812800" wR="812779" stAng="10800000" swAng="5400000"/>
                <a:close/>
              </a:path>
            </a:pathLst>
          </a:custGeom>
          <a:solidFill>
            <a:srgbClr val="C2482A"/>
          </a:solidFill>
          <a:ln/>
        </p:spPr>
      </p:sp>
      <p:sp>
        <p:nvSpPr>
          <p:cNvPr id="11" name="Text 9"/>
          <p:cNvSpPr/>
          <p:nvPr/>
        </p:nvSpPr>
        <p:spPr>
          <a:xfrm>
            <a:off x="6578336" y="3504803"/>
            <a:ext cx="4978275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103" kern="100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SPENDWISE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78336" y="3795713"/>
            <a:ext cx="4648084" cy="41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600" spc="-13" kern="100" dirty="0">
                <a:solidFill>
                  <a:srgbClr val="FFFFF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Turn context into better decisions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578336" y="4352230"/>
            <a:ext cx="4648084" cy="558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Source Sans 3 Medium" pitchFamily="34" charset="0"/>
                <a:ea typeface="Source Sans 3 Medium" pitchFamily="34" charset="-122"/>
                <a:cs typeface="Source Sans 3 Medium" pitchFamily="34" charset="-120"/>
              </a:rPr>
              <a:t>SpendWise connects your behavior, obligations, and goals to what you should do next.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578336" y="5023247"/>
            <a:ext cx="4648084" cy="1491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35280" indent="-335280">
              <a:lnSpc>
                <a:spcPct val="110000"/>
              </a:lnSpc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Source Sans 3 Medium" pitchFamily="34" charset="0"/>
                <a:ea typeface="Source Sans 3 Medium" pitchFamily="34" charset="-122"/>
                <a:cs typeface="Source Sans 3 Medium" pitchFamily="34" charset="-120"/>
              </a:rPr>
              <a:t>Safe-spending guidance and proactive warnings</a:t>
            </a:r>
            <a:endParaRPr lang="en-US" sz="1650" dirty="0"/>
          </a:p>
          <a:p>
            <a:pPr algn="l" marL="335280" indent="-335280">
              <a:lnSpc>
                <a:spcPct val="110000"/>
              </a:lnSpc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Source Sans 3 Medium" pitchFamily="34" charset="0"/>
                <a:ea typeface="Source Sans 3 Medium" pitchFamily="34" charset="-122"/>
                <a:cs typeface="Source Sans 3 Medium" pitchFamily="34" charset="-120"/>
              </a:rPr>
              <a:t>Recurring-expense and major-purchase planning</a:t>
            </a:r>
            <a:endParaRPr lang="en-US" sz="1650" dirty="0"/>
          </a:p>
          <a:p>
            <a:pPr algn="l" marL="335280" indent="-335280">
              <a:lnSpc>
                <a:spcPct val="110000"/>
              </a:lnSpc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Source Sans 3 Medium" pitchFamily="34" charset="0"/>
                <a:ea typeface="Source Sans 3 Medium" pitchFamily="34" charset="-122"/>
                <a:cs typeface="Source Sans 3 Medium" pitchFamily="34" charset="-120"/>
              </a:rPr>
              <a:t>AI recommendations, plus Money Locker savings discipline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02237" cy="6858000"/>
          </a:xfrm>
          <a:custGeom>
            <a:avLst/>
            <a:gdLst/>
            <a:ahLst/>
            <a:cxnLst/>
            <a:rect l="l" t="t" r="r" b="b"/>
            <a:pathLst>
              <a:path w="6502237" h="6858000">
                <a:moveTo>
                  <a:pt x="126997" y="0"/>
                </a:moveTo>
                <a:lnTo>
                  <a:pt x="5689458" y="0"/>
                </a:lnTo>
                <a:arcTo hR="812800" wR="812779" stAng="16200000" swAng="5400000"/>
                <a:lnTo>
                  <a:pt x="6502237" y="6731000"/>
                </a:lnTo>
                <a:arcTo hR="127000" wR="126997" stAng="0" swAng="5400000"/>
                <a:lnTo>
                  <a:pt x="126997" y="6858000"/>
                </a:lnTo>
                <a:arcTo hR="127000" wR="126997" stAng="5400000" swAng="5400000"/>
                <a:lnTo>
                  <a:pt x="0" y="127000"/>
                </a:lnTo>
                <a:arcTo hR="127000" wR="126997" stAng="10800000" swAng="5400000"/>
                <a:close/>
              </a:path>
            </a:pathLst>
          </a:custGeom>
          <a:solidFill>
            <a:srgbClr val="1C5B44"/>
          </a:solidFill>
          <a:ln/>
        </p:spPr>
      </p:sp>
      <p:sp>
        <p:nvSpPr>
          <p:cNvPr id="3" name="Text 1"/>
          <p:cNvSpPr/>
          <p:nvPr/>
        </p:nvSpPr>
        <p:spPr>
          <a:xfrm>
            <a:off x="634984" y="482600"/>
            <a:ext cx="5867253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spc="112" kern="100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THE PRODUCT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4984" y="805755"/>
            <a:ext cx="5435464" cy="1892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600" b="1" spc="-69" kern="100" dirty="0">
                <a:solidFill>
                  <a:srgbClr val="FFFFF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SpendWise is the decision layer for everyday money.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634984" y="2979539"/>
            <a:ext cx="1358866" cy="50701"/>
          </a:xfrm>
          <a:prstGeom prst="roundRect">
            <a:avLst>
              <a:gd name="adj" fmla="val 49999"/>
            </a:avLst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634984" y="3289102"/>
            <a:ext cx="5435464" cy="736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Source Sans 3 Medium" pitchFamily="34" charset="0"/>
                <a:ea typeface="Source Sans 3 Medium" pitchFamily="34" charset="-122"/>
                <a:cs typeface="Source Sans 3 Medium" pitchFamily="34" charset="-120"/>
              </a:rPr>
              <a:t>One financial picture across expenses, recurring commitments, savings, and goals.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34984" y="4228306"/>
            <a:ext cx="5435464" cy="630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ource Sans 3 Medium" pitchFamily="34" charset="0"/>
                <a:ea typeface="Source Sans 3 Medium" pitchFamily="34" charset="-122"/>
                <a:cs typeface="Source Sans 3 Medium" pitchFamily="34" charset="-120"/>
              </a:rPr>
              <a:t>AI guidance explains the trade-offs behind each recommendation.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7828" y="355600"/>
            <a:ext cx="4952876" cy="6146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84" y="431800"/>
            <a:ext cx="11531312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spc="112" kern="100" dirty="0">
                <a:solidFill>
                  <a:srgbClr val="C2482A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THE OPERATING LOOP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34984" y="754955"/>
            <a:ext cx="10921727" cy="126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600" b="1" spc="-69" kern="100" dirty="0">
                <a:solidFill>
                  <a:srgbClr val="2B211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One loop connects today’s spending to tomorrow’s goals.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34984" y="2297807"/>
            <a:ext cx="2730432" cy="50701"/>
          </a:xfrm>
          <a:prstGeom prst="roundRect">
            <a:avLst>
              <a:gd name="adj" fmla="val 49999"/>
            </a:avLst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634984" y="2886472"/>
            <a:ext cx="3206670" cy="357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2200" b="1" spc="-33" kern="100" dirty="0">
                <a:solidFill>
                  <a:srgbClr val="46392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Income enters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34984" y="3381177"/>
            <a:ext cx="3206670" cy="630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46392F"/>
                </a:solidFill>
                <a:latin typeface="Source Sans 3 Medium" pitchFamily="34" charset="0"/>
                <a:ea typeface="Source Sans 3 Medium" pitchFamily="34" charset="-122"/>
                <a:cs typeface="Source Sans 3 Medium" pitchFamily="34" charset="-120"/>
              </a:rPr>
              <a:t>The month starts with the money available.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4545" y="2658170"/>
            <a:ext cx="3822604" cy="382270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93654" y="3437632"/>
            <a:ext cx="341998" cy="34200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50041" y="2670770"/>
            <a:ext cx="3206670" cy="357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200" b="1" spc="-33" kern="100" dirty="0">
                <a:solidFill>
                  <a:srgbClr val="46392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Reserve essentials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350041" y="3165475"/>
            <a:ext cx="3206670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46392F"/>
                </a:solidFill>
                <a:latin typeface="Source Sans 3 Medium" pitchFamily="34" charset="0"/>
                <a:ea typeface="Source Sans 3 Medium" pitchFamily="34" charset="-122"/>
                <a:cs typeface="Source Sans 3 Medium" pitchFamily="34" charset="-120"/>
              </a:rPr>
              <a:t>Fixed expenses are set aside first.</a:t>
            </a:r>
            <a:endParaRPr lang="en-US" sz="18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4545" y="2658170"/>
            <a:ext cx="3822604" cy="382270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50754" y="3215977"/>
            <a:ext cx="341998" cy="34200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464338" y="3848993"/>
            <a:ext cx="3092373" cy="357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200" b="1" spc="-33" kern="100" dirty="0">
                <a:solidFill>
                  <a:srgbClr val="46392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Understand spending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464338" y="4343698"/>
            <a:ext cx="3092373" cy="630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46392F"/>
                </a:solidFill>
                <a:latin typeface="Source Sans 3 Medium" pitchFamily="34" charset="0"/>
                <a:ea typeface="Source Sans 3 Medium" pitchFamily="34" charset="-122"/>
                <a:cs typeface="Source Sans 3 Medium" pitchFamily="34" charset="-120"/>
              </a:rPr>
              <a:t>Daily behavior becomes visible in context.</a:t>
            </a:r>
            <a:endParaRPr lang="en-US" sz="18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4545" y="2658170"/>
            <a:ext cx="3822604" cy="3822700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42688" y="4628455"/>
            <a:ext cx="341998" cy="342007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350041" y="5342632"/>
            <a:ext cx="3206670" cy="357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200" b="1" spc="-33" kern="100" dirty="0">
                <a:solidFill>
                  <a:srgbClr val="46392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Fund goals</a:t>
            </a:r>
            <a:endParaRPr lang="en-US" sz="2200" dirty="0"/>
          </a:p>
        </p:txBody>
      </p:sp>
      <p:sp>
        <p:nvSpPr>
          <p:cNvPr id="18" name="Text 10"/>
          <p:cNvSpPr/>
          <p:nvPr/>
        </p:nvSpPr>
        <p:spPr>
          <a:xfrm>
            <a:off x="8350041" y="5837337"/>
            <a:ext cx="3206670" cy="630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46392F"/>
                </a:solidFill>
                <a:latin typeface="Source Sans 3 Medium" pitchFamily="34" charset="0"/>
                <a:ea typeface="Source Sans 3 Medium" pitchFamily="34" charset="-122"/>
                <a:cs typeface="Source Sans 3 Medium" pitchFamily="34" charset="-120"/>
              </a:rPr>
              <a:t>Savings and goals receive a clear contribution.</a:t>
            </a:r>
            <a:endParaRPr lang="en-US" sz="18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84545" y="2658170"/>
            <a:ext cx="3822604" cy="3822700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13210" y="5722938"/>
            <a:ext cx="341998" cy="342007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634984" y="4969272"/>
            <a:ext cx="3206670" cy="357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2200" b="1" spc="-33" kern="100" dirty="0">
                <a:solidFill>
                  <a:srgbClr val="46392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Stay on track</a:t>
            </a:r>
            <a:endParaRPr lang="en-US" sz="2200" dirty="0"/>
          </a:p>
        </p:txBody>
      </p:sp>
      <p:sp>
        <p:nvSpPr>
          <p:cNvPr id="22" name="Text 12"/>
          <p:cNvSpPr/>
          <p:nvPr/>
        </p:nvSpPr>
        <p:spPr>
          <a:xfrm>
            <a:off x="634984" y="5463977"/>
            <a:ext cx="3206670" cy="630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46392F"/>
                </a:solidFill>
                <a:latin typeface="Source Sans 3 Medium" pitchFamily="34" charset="0"/>
                <a:ea typeface="Source Sans 3 Medium" pitchFamily="34" charset="-122"/>
                <a:cs typeface="Source Sans 3 Medium" pitchFamily="34" charset="-120"/>
              </a:rPr>
              <a:t>Recommendations adjust the plan as life changes.</a:t>
            </a:r>
            <a:endParaRPr lang="en-US" sz="18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84545" y="2658170"/>
            <a:ext cx="3822604" cy="3822700"/>
          </a:xfrm>
          <a:prstGeom prst="rect">
            <a:avLst/>
          </a:prstGeom>
        </p:spPr>
      </p:pic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723290" y="4987032"/>
            <a:ext cx="341998" cy="3420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84" y="431800"/>
            <a:ext cx="7086423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spc="112" kern="100" dirty="0">
                <a:solidFill>
                  <a:srgbClr val="C2482A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FROM PAYMENT TO SIGNAL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34984" y="754955"/>
            <a:ext cx="6654634" cy="126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600" b="1" spc="-69" kern="100" dirty="0">
                <a:solidFill>
                  <a:srgbClr val="2B211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Every payment becomes a useful signal.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34984" y="2297807"/>
            <a:ext cx="1663658" cy="50701"/>
          </a:xfrm>
          <a:prstGeom prst="roundRect">
            <a:avLst>
              <a:gd name="adj" fmla="val 49999"/>
            </a:avLst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634984" y="2607370"/>
            <a:ext cx="6654634" cy="1149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1550"/>
              </a:spcAft>
              <a:buNone/>
            </a:pPr>
            <a:r>
              <a:rPr lang="en-US" sz="1800" dirty="0">
                <a:solidFill>
                  <a:srgbClr val="46392F"/>
                </a:solidFill>
                <a:latin typeface="Source Sans 3 Medium" pitchFamily="34" charset="0"/>
                <a:ea typeface="Source Sans 3 Medium" pitchFamily="34" charset="-122"/>
                <a:cs typeface="Source Sans 3 Medium" pitchFamily="34" charset="-120"/>
              </a:rPr>
              <a:t>Log payments across Food, Grocery, Travel, Transport, Shopping, Education, Healthcare, Entertainment, Household, and Other.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46392F"/>
                </a:solidFill>
                <a:latin typeface="Source Sans 3 Medium" pitchFamily="34" charset="0"/>
                <a:ea typeface="Source Sans 3 Medium" pitchFamily="34" charset="-122"/>
                <a:cs typeface="Source Sans 3 Medium" pitchFamily="34" charset="-120"/>
              </a:rPr>
              <a:t>See category patterns, not just a transaction list.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34984" y="3960019"/>
            <a:ext cx="6654634" cy="469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spc="14" kern="100" dirty="0">
                <a:solidFill>
                  <a:srgbClr val="6E5F53"/>
                </a:solidFill>
                <a:latin typeface="Source Sans 3 Medium" pitchFamily="34" charset="0"/>
                <a:ea typeface="Source Sans 3 Medium" pitchFamily="34" charset="-122"/>
                <a:cs typeface="Source Sans 3 Medium" pitchFamily="34" charset="-120"/>
              </a:rPr>
              <a:t>Authentication supports email, phone, and OTP without storing banking passwords or UPI PINs.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84" y="381000"/>
            <a:ext cx="10921727" cy="126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600" b="1" spc="-69" kern="100" dirty="0">
                <a:solidFill>
                  <a:srgbClr val="2B211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Recurring expenses stop becoming recurring surprises.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634984" y="1923852"/>
            <a:ext cx="2730432" cy="50701"/>
          </a:xfrm>
          <a:prstGeom prst="roundRect">
            <a:avLst>
              <a:gd name="adj" fmla="val 49999"/>
            </a:avLst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984" y="2233414"/>
            <a:ext cx="571486" cy="571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4984" y="3008114"/>
            <a:ext cx="5308368" cy="357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200" spc="-11" kern="100" dirty="0">
                <a:solidFill>
                  <a:srgbClr val="2B211C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Monthly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34984" y="3527623"/>
            <a:ext cx="5308368" cy="630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46392F"/>
                </a:solidFill>
                <a:latin typeface="Source Sans 3 Medium" pitchFamily="34" charset="0"/>
                <a:ea typeface="Source Sans 3 Medium" pitchFamily="34" charset="-122"/>
                <a:cs typeface="Source Sans 3 Medium" pitchFamily="34" charset="-120"/>
              </a:rPr>
              <a:t>Rent, EMI, electricity, internet, subscriptions, insurance.</a:t>
            </a:r>
            <a:endParaRPr lang="en-US" sz="1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144" y="2233414"/>
            <a:ext cx="571486" cy="571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48144" y="3008114"/>
            <a:ext cx="5308467" cy="357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200" spc="-11" kern="100" dirty="0">
                <a:solidFill>
                  <a:srgbClr val="2B211C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Yearly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248144" y="3527623"/>
            <a:ext cx="5308467" cy="630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46392F"/>
                </a:solidFill>
                <a:latin typeface="Source Sans 3 Medium" pitchFamily="34" charset="0"/>
                <a:ea typeface="Source Sans 3 Medium" pitchFamily="34" charset="-122"/>
                <a:cs typeface="Source Sans 3 Medium" pitchFamily="34" charset="-120"/>
              </a:rPr>
              <a:t>College fees, health insurance, vehicle insurance, annual subscriptions.</a:t>
            </a:r>
            <a:endParaRPr lang="en-US" sz="1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84" y="4463256"/>
            <a:ext cx="571486" cy="5715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4984" y="5237956"/>
            <a:ext cx="5308368" cy="357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200" spc="-11" kern="100" dirty="0">
                <a:solidFill>
                  <a:srgbClr val="2B211C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Plan ahead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634984" y="5757466"/>
            <a:ext cx="5308368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46392F"/>
                </a:solidFill>
                <a:latin typeface="Source Sans 3 Medium" pitchFamily="34" charset="0"/>
                <a:ea typeface="Source Sans 3 Medium" pitchFamily="34" charset="-122"/>
                <a:cs typeface="Source Sans 3 Medium" pitchFamily="34" charset="-120"/>
              </a:rPr>
              <a:t>Receive reminders and plan ahead.</a:t>
            </a:r>
            <a:endParaRPr lang="en-US" sz="1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144" y="4463256"/>
            <a:ext cx="571486" cy="5715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48144" y="5237956"/>
            <a:ext cx="5308467" cy="357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200" spc="-11" kern="100" dirty="0">
                <a:solidFill>
                  <a:srgbClr val="2B211C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Future capability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6248144" y="5757466"/>
            <a:ext cx="5308467" cy="630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46392F"/>
                </a:solidFill>
                <a:latin typeface="Source Sans 3 Medium" pitchFamily="34" charset="0"/>
                <a:ea typeface="Source Sans 3 Medium" pitchFamily="34" charset="-122"/>
                <a:cs typeface="Source Sans 3 Medium" pitchFamily="34" charset="-120"/>
              </a:rPr>
              <a:t>Automatic payment execution requires integrations and authorization.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35991" cy="6858000"/>
          </a:xfrm>
          <a:custGeom>
            <a:avLst/>
            <a:gdLst/>
            <a:ahLst/>
            <a:cxnLst/>
            <a:rect l="l" t="t" r="r" b="b"/>
            <a:pathLst>
              <a:path w="6735991" h="6858000">
                <a:moveTo>
                  <a:pt x="126997" y="0"/>
                </a:moveTo>
                <a:lnTo>
                  <a:pt x="5923212" y="0"/>
                </a:lnTo>
                <a:arcTo hR="812800" wR="812779" stAng="16200000" swAng="5400000"/>
                <a:lnTo>
                  <a:pt x="6735991" y="6731000"/>
                </a:lnTo>
                <a:arcTo hR="127000" wR="126997" stAng="0" swAng="5400000"/>
                <a:lnTo>
                  <a:pt x="126997" y="6858000"/>
                </a:lnTo>
                <a:arcTo hR="127000" wR="126997" stAng="5400000" swAng="5400000"/>
                <a:lnTo>
                  <a:pt x="0" y="127000"/>
                </a:lnTo>
                <a:arcTo hR="127000" wR="126997" stAng="10800000" swAng="5400000"/>
                <a:close/>
              </a:path>
            </a:pathLst>
          </a:custGeom>
          <a:solidFill>
            <a:srgbClr val="1C5B44"/>
          </a:solidFill>
          <a:ln/>
        </p:spPr>
      </p:sp>
      <p:sp>
        <p:nvSpPr>
          <p:cNvPr id="3" name="Text 1"/>
          <p:cNvSpPr/>
          <p:nvPr/>
        </p:nvSpPr>
        <p:spPr>
          <a:xfrm>
            <a:off x="634984" y="431800"/>
            <a:ext cx="6101007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spc="112" kern="100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ILLUSTRATIVE GUIDANCE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4984" y="754955"/>
            <a:ext cx="5720016" cy="2139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5400" spc="-108" kern="100" dirty="0">
                <a:solidFill>
                  <a:srgbClr val="FFFFFF"/>
                </a:solidFill>
                <a:latin typeface="Nunito Sans ExtraBold" pitchFamily="34" charset="0"/>
                <a:ea typeface="Nunito Sans ExtraBold" pitchFamily="34" charset="-122"/>
                <a:cs typeface="Nunito Sans ExtraBold" pitchFamily="34" charset="-120"/>
              </a:rPr>
              <a:t>₹60,000 becomes a plan, not a guess.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634984" y="3175496"/>
            <a:ext cx="1429905" cy="50701"/>
          </a:xfrm>
          <a:prstGeom prst="roundRect">
            <a:avLst>
              <a:gd name="adj" fmla="val 49999"/>
            </a:avLst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634984" y="3485059"/>
            <a:ext cx="5720016" cy="1464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155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Source Sans 3 Medium" pitchFamily="34" charset="0"/>
                <a:ea typeface="Source Sans 3 Medium" pitchFamily="34" charset="-122"/>
                <a:cs typeface="Source Sans 3 Medium" pitchFamily="34" charset="-120"/>
              </a:rPr>
              <a:t>Separate essential expenses, recommended savings, goal contribution, and flexible spending.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Safe daily spending: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ource Sans 3 Medium" pitchFamily="34" charset="0"/>
                <a:ea typeface="Source Sans 3 Medium" pitchFamily="34" charset="-122"/>
                <a:cs typeface="Source Sans 3 Medium" pitchFamily="34" charset="-120"/>
              </a:rPr>
              <a:t> approximately ₹833 while staying on track.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4984" y="5153124"/>
            <a:ext cx="5720016" cy="469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spc="14" kern="100" dirty="0">
                <a:solidFill>
                  <a:srgbClr val="FFFFFF"/>
                </a:solidFill>
                <a:latin typeface="Source Sans 3 Medium" pitchFamily="34" charset="0"/>
                <a:ea typeface="Source Sans 3 Medium" pitchFamily="34" charset="-122"/>
                <a:cs typeface="Source Sans 3 Medium" pitchFamily="34" charset="-120"/>
              </a:rPr>
              <a:t>The user sees the assumptions and can adjust them. Figures are illustrative, not universal financial advice.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7681" y="1550789"/>
            <a:ext cx="4770021" cy="332799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67681" y="4970859"/>
            <a:ext cx="5024014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spc="14" kern="100" dirty="0">
                <a:solidFill>
                  <a:srgbClr val="6E5F53"/>
                </a:solidFill>
                <a:latin typeface="Source Sans 3 Medium" pitchFamily="34" charset="0"/>
                <a:ea typeface="Source Sans 3 Medium" pitchFamily="34" charset="-122"/>
                <a:cs typeface="Source Sans 3 Medium" pitchFamily="34" charset="-120"/>
              </a:rPr>
              <a:t>Illustrative ₹60,000 monthly allocation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190895" cy="647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02077" y="457200"/>
            <a:ext cx="7264218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spc="112" kern="100" dirty="0">
                <a:solidFill>
                  <a:srgbClr val="C2482A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BEHAVIORAL DISCIPLINE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902077" y="780355"/>
            <a:ext cx="6654634" cy="1892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600" b="1" spc="-69" kern="100" dirty="0">
                <a:solidFill>
                  <a:srgbClr val="2B211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Money Locker makes good intentions harder to break.</a:t>
            </a:r>
            <a:endParaRPr lang="en-US" sz="4600" dirty="0"/>
          </a:p>
        </p:txBody>
      </p:sp>
      <p:sp>
        <p:nvSpPr>
          <p:cNvPr id="5" name="Shape 2"/>
          <p:cNvSpPr/>
          <p:nvPr/>
        </p:nvSpPr>
        <p:spPr>
          <a:xfrm>
            <a:off x="4902077" y="2954139"/>
            <a:ext cx="1663658" cy="50701"/>
          </a:xfrm>
          <a:prstGeom prst="roundRect">
            <a:avLst>
              <a:gd name="adj" fmla="val 49999"/>
            </a:avLst>
          </a:prstGeom>
          <a:solidFill>
            <a:srgbClr val="F2A93B"/>
          </a:solidFill>
          <a:ln/>
        </p:spPr>
      </p:sp>
      <p:sp>
        <p:nvSpPr>
          <p:cNvPr id="6" name="Text 3"/>
          <p:cNvSpPr/>
          <p:nvPr/>
        </p:nvSpPr>
        <p:spPr>
          <a:xfrm>
            <a:off x="4902077" y="3263702"/>
            <a:ext cx="6654634" cy="1780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1550"/>
              </a:spcAft>
              <a:buNone/>
            </a:pPr>
            <a:r>
              <a:rPr lang="en-US" sz="1800" dirty="0">
                <a:solidFill>
                  <a:srgbClr val="46392F"/>
                </a:solidFill>
                <a:latin typeface="Source Sans 3 Medium" pitchFamily="34" charset="0"/>
                <a:ea typeface="Source Sans 3 Medium" pitchFamily="34" charset="-122"/>
                <a:cs typeface="Source Sans 3 Medium" pitchFamily="34" charset="-120"/>
              </a:rPr>
              <a:t>Money Locker is a wallet-style system for setting aside money toward a goal for </a:t>
            </a:r>
            <a:pPr algn="l" indent="0" marL="0">
              <a:lnSpc>
                <a:spcPct val="115000"/>
              </a:lnSpc>
              <a:spcAft>
                <a:spcPts val="1550"/>
              </a:spcAft>
              <a:buNone/>
            </a:pPr>
            <a:r>
              <a:rPr lang="en-US" sz="1800" b="1" dirty="0">
                <a:solidFill>
                  <a:srgbClr val="46392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15 days, 1 month, 3 months, 6 months, or a custom duration.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46392F"/>
                </a:solidFill>
                <a:latin typeface="Source Sans 3 Medium" pitchFamily="34" charset="0"/>
                <a:ea typeface="Source Sans 3 Medium" pitchFamily="34" charset="-122"/>
                <a:cs typeface="Source Sans 3 Medium" pitchFamily="34" charset="-120"/>
              </a:rPr>
              <a:t>Designed to reduce impulse spending by making the commitment visible and deliberate.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902077" y="5247184"/>
            <a:ext cx="1239509" cy="539452"/>
          </a:xfrm>
          <a:prstGeom prst="roundRect">
            <a:avLst>
              <a:gd name="adj" fmla="val 38138"/>
            </a:avLst>
          </a:prstGeom>
          <a:solidFill>
            <a:srgbClr val="F0E8DB"/>
          </a:solidFill>
          <a:ln/>
        </p:spPr>
      </p:sp>
      <p:sp>
        <p:nvSpPr>
          <p:cNvPr id="8" name="Text 5"/>
          <p:cNvSpPr/>
          <p:nvPr/>
        </p:nvSpPr>
        <p:spPr>
          <a:xfrm>
            <a:off x="5079873" y="5399584"/>
            <a:ext cx="1061713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spc="14" kern="100" dirty="0">
                <a:solidFill>
                  <a:srgbClr val="6E5F53"/>
                </a:solidFill>
                <a:latin typeface="Source Sans 3 Medium" pitchFamily="34" charset="0"/>
                <a:ea typeface="Source Sans 3 Medium" pitchFamily="34" charset="-122"/>
                <a:cs typeface="Source Sans 3 Medium" pitchFamily="34" charset="-120"/>
              </a:rPr>
              <a:t>15 days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93883" y="5247184"/>
            <a:ext cx="1239509" cy="539452"/>
          </a:xfrm>
          <a:prstGeom prst="roundRect">
            <a:avLst>
              <a:gd name="adj" fmla="val 38138"/>
            </a:avLst>
          </a:prstGeom>
          <a:solidFill>
            <a:srgbClr val="F0E8DB"/>
          </a:solidFill>
          <a:ln/>
        </p:spPr>
      </p:sp>
      <p:sp>
        <p:nvSpPr>
          <p:cNvPr id="10" name="Text 7"/>
          <p:cNvSpPr/>
          <p:nvPr/>
        </p:nvSpPr>
        <p:spPr>
          <a:xfrm>
            <a:off x="6471679" y="5399584"/>
            <a:ext cx="1061713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spc="14" kern="100" dirty="0">
                <a:solidFill>
                  <a:srgbClr val="6E5F53"/>
                </a:solidFill>
                <a:latin typeface="Source Sans 3 Medium" pitchFamily="34" charset="0"/>
                <a:ea typeface="Source Sans 3 Medium" pitchFamily="34" charset="-122"/>
                <a:cs typeface="Source Sans 3 Medium" pitchFamily="34" charset="-120"/>
              </a:rPr>
              <a:t>1 month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685689" y="5247184"/>
            <a:ext cx="1239608" cy="539452"/>
          </a:xfrm>
          <a:prstGeom prst="roundRect">
            <a:avLst>
              <a:gd name="adj" fmla="val 38138"/>
            </a:avLst>
          </a:prstGeom>
          <a:solidFill>
            <a:srgbClr val="F0E8DB"/>
          </a:solidFill>
          <a:ln/>
        </p:spPr>
      </p:sp>
      <p:sp>
        <p:nvSpPr>
          <p:cNvPr id="12" name="Text 9"/>
          <p:cNvSpPr/>
          <p:nvPr/>
        </p:nvSpPr>
        <p:spPr>
          <a:xfrm>
            <a:off x="7863485" y="5399584"/>
            <a:ext cx="1061812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spc="14" kern="100" dirty="0">
                <a:solidFill>
                  <a:srgbClr val="6E5F53"/>
                </a:solidFill>
                <a:latin typeface="Source Sans 3 Medium" pitchFamily="34" charset="0"/>
                <a:ea typeface="Source Sans 3 Medium" pitchFamily="34" charset="-122"/>
                <a:cs typeface="Source Sans 3 Medium" pitchFamily="34" charset="-120"/>
              </a:rPr>
              <a:t>3 months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077693" y="5247184"/>
            <a:ext cx="2479018" cy="539452"/>
          </a:xfrm>
          <a:prstGeom prst="roundRect">
            <a:avLst>
              <a:gd name="adj" fmla="val 38138"/>
            </a:avLst>
          </a:prstGeom>
          <a:solidFill>
            <a:srgbClr val="F0E8DB"/>
          </a:solidFill>
          <a:ln/>
        </p:spPr>
      </p:sp>
      <p:sp>
        <p:nvSpPr>
          <p:cNvPr id="14" name="Text 11"/>
          <p:cNvSpPr/>
          <p:nvPr/>
        </p:nvSpPr>
        <p:spPr>
          <a:xfrm>
            <a:off x="9255489" y="5399584"/>
            <a:ext cx="2301222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spc="14" kern="100" dirty="0">
                <a:solidFill>
                  <a:srgbClr val="6E5F53"/>
                </a:solidFill>
                <a:latin typeface="Source Sans 3 Medium" pitchFamily="34" charset="0"/>
                <a:ea typeface="Source Sans 3 Medium" pitchFamily="34" charset="-122"/>
                <a:cs typeface="Source Sans 3 Medium" pitchFamily="34" charset="-120"/>
              </a:rPr>
              <a:t>6 months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902077" y="5989836"/>
            <a:ext cx="7264218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spc="14" kern="100" dirty="0">
                <a:solidFill>
                  <a:srgbClr val="6E5F53"/>
                </a:solidFill>
                <a:latin typeface="Source Sans 3 Medium" pitchFamily="34" charset="0"/>
                <a:ea typeface="Source Sans 3 Medium" pitchFamily="34" charset="-122"/>
                <a:cs typeface="Source Sans 3 Medium" pitchFamily="34" charset="-120"/>
              </a:rPr>
              <a:t>Conceptual product feature, not a regulated deposit or payment product.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534187" cy="5160367"/>
          </a:xfrm>
          <a:custGeom>
            <a:avLst/>
            <a:gdLst/>
            <a:ahLst/>
            <a:cxnLst/>
            <a:rect l="l" t="t" r="r" b="b"/>
            <a:pathLst>
              <a:path w="8534187" h="5160367">
                <a:moveTo>
                  <a:pt x="126997" y="0"/>
                </a:moveTo>
                <a:lnTo>
                  <a:pt x="7721407" y="0"/>
                </a:lnTo>
                <a:arcTo hR="812800" wR="812779" stAng="16200000" swAng="5400000"/>
                <a:lnTo>
                  <a:pt x="8534187" y="5033368"/>
                </a:lnTo>
                <a:arcTo hR="127000" wR="126997" stAng="0" swAng="5400000"/>
                <a:lnTo>
                  <a:pt x="126997" y="5160367"/>
                </a:lnTo>
                <a:arcTo hR="127000" wR="126997" stAng="5400000" swAng="5400000"/>
                <a:lnTo>
                  <a:pt x="0" y="127000"/>
                </a:lnTo>
                <a:arcTo hR="127000" wR="126997" stAng="10800000" swAng="5400000"/>
                <a:close/>
              </a:path>
            </a:pathLst>
          </a:custGeom>
          <a:solidFill>
            <a:srgbClr val="C2482A"/>
          </a:solidFill>
          <a:ln/>
        </p:spPr>
      </p:sp>
      <p:sp>
        <p:nvSpPr>
          <p:cNvPr id="3" name="Text 1"/>
          <p:cNvSpPr/>
          <p:nvPr/>
        </p:nvSpPr>
        <p:spPr>
          <a:xfrm>
            <a:off x="634984" y="457200"/>
            <a:ext cx="7899202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spc="112" kern="100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ASK SPENDWISE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4984" y="780355"/>
            <a:ext cx="7467413" cy="1892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600" b="1" spc="-69" kern="100" dirty="0">
                <a:solidFill>
                  <a:srgbClr val="FFFFF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Ask a money question. Get the reasoning, not a generic tip.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634984" y="2954139"/>
            <a:ext cx="1866853" cy="50701"/>
          </a:xfrm>
          <a:prstGeom prst="roundRect">
            <a:avLst>
              <a:gd name="adj" fmla="val 49999"/>
            </a:avLst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634984" y="3263702"/>
            <a:ext cx="7467413" cy="146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55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User:</a:t>
            </a:r>
            <a:pPr algn="l" indent="0" marL="0">
              <a:lnSpc>
                <a:spcPct val="115000"/>
              </a:lnSpc>
              <a:spcAft>
                <a:spcPts val="155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Source Sans 3 Medium" pitchFamily="34" charset="0"/>
                <a:ea typeface="Source Sans 3 Medium" pitchFamily="34" charset="-122"/>
                <a:cs typeface="Source Sans 3 Medium" pitchFamily="34" charset="-120"/>
              </a:rPr>
              <a:t> “Can I buy a ₹75,000 laptop?”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SpendWise: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ource Sans 3 Medium" pitchFamily="34" charset="0"/>
                <a:ea typeface="Source Sans 3 Medium" pitchFamily="34" charset="-122"/>
                <a:cs typeface="Source Sans 3 Medium" pitchFamily="34" charset="-120"/>
              </a:rPr>
              <a:t> “January would be safer than November. Saving ₹12,500 per month and reducing discretionary spending by approximately ₹2,000 per month could help you reach the goal without affecting essentials.”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4187" y="0"/>
            <a:ext cx="3657509" cy="51603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4984" y="5566767"/>
            <a:ext cx="10921727" cy="469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spc="14" kern="100" dirty="0">
                <a:solidFill>
                  <a:srgbClr val="6E5F53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Reasoning inputs:</a:t>
            </a:r>
            <a:pPr algn="l" indent="0" marL="0">
              <a:lnSpc>
                <a:spcPct val="110000"/>
              </a:lnSpc>
              <a:buNone/>
            </a:pPr>
            <a:r>
              <a:rPr lang="en-US" sz="1400" spc="14" kern="100" dirty="0">
                <a:solidFill>
                  <a:srgbClr val="6E5F53"/>
                </a:solidFill>
                <a:latin typeface="Source Sans 3 Medium" pitchFamily="34" charset="0"/>
                <a:ea typeface="Source Sans 3 Medium" pitchFamily="34" charset="-122"/>
                <a:cs typeface="Source Sans 3 Medium" pitchFamily="34" charset="-120"/>
              </a:rPr>
              <a:t> income, fixed expenses, savings, goals, upcoming expenses, historical behavior. Guidance is based on user-provided information and calculations—not guaranteed financial advice.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2026-10-06T17:37:20Z</dcterms:created>
  <dcterms:modified xsi:type="dcterms:W3CDTF">2026-10-06T17:37:20Z</dcterms:modified>
</cp:coreProperties>
</file>